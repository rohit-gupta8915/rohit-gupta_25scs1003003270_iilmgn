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53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001F4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 u="sng">
                <a:solidFill>
                  <a:srgbClr val="18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001F4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500" b="1" i="0" u="sng">
                <a:solidFill>
                  <a:srgbClr val="18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001F4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001F4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158" y="819417"/>
            <a:ext cx="5278120" cy="713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001F4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0895" y="2595482"/>
            <a:ext cx="4942840" cy="6295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 u="sng">
                <a:solidFill>
                  <a:srgbClr val="18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u="dbl" dirty="0">
                <a:solidFill>
                  <a:srgbClr val="1F4D79"/>
                </a:solidFill>
                <a:uFill>
                  <a:solidFill>
                    <a:srgbClr val="1D4D79"/>
                  </a:solidFill>
                </a:uFill>
                <a:latin typeface="Calibri"/>
                <a:cs typeface="Calibri"/>
              </a:rPr>
              <a:t>LAND</a:t>
            </a:r>
            <a:r>
              <a:rPr b="1" u="dbl" spc="-35" dirty="0">
                <a:solidFill>
                  <a:srgbClr val="1F4D79"/>
                </a:solidFill>
                <a:uFill>
                  <a:solidFill>
                    <a:srgbClr val="1D4D79"/>
                  </a:solidFill>
                </a:uFill>
                <a:latin typeface="Calibri"/>
                <a:cs typeface="Calibri"/>
              </a:rPr>
              <a:t> </a:t>
            </a:r>
            <a:r>
              <a:rPr b="1" u="dbl" dirty="0">
                <a:solidFill>
                  <a:srgbClr val="1F4D79"/>
                </a:solidFill>
                <a:uFill>
                  <a:solidFill>
                    <a:srgbClr val="1D4D79"/>
                  </a:solidFill>
                </a:uFill>
                <a:latin typeface="Calibri"/>
                <a:cs typeface="Calibri"/>
              </a:rPr>
              <a:t>USE </a:t>
            </a:r>
            <a:r>
              <a:rPr b="1" u="dbl" spc="-10" dirty="0">
                <a:solidFill>
                  <a:srgbClr val="1F4D79"/>
                </a:solidFill>
                <a:uFill>
                  <a:solidFill>
                    <a:srgbClr val="1D4D79"/>
                  </a:solidFill>
                </a:uFill>
                <a:latin typeface="Calibri"/>
                <a:cs typeface="Calibri"/>
              </a:rPr>
              <a:t>CONFLICTS:</a:t>
            </a:r>
          </a:p>
        </p:txBody>
      </p:sp>
      <p:sp>
        <p:nvSpPr>
          <p:cNvPr id="3" name="object 3"/>
          <p:cNvSpPr/>
          <p:nvPr/>
        </p:nvSpPr>
        <p:spPr>
          <a:xfrm>
            <a:off x="6347459" y="2223516"/>
            <a:ext cx="7620" cy="29209"/>
          </a:xfrm>
          <a:custGeom>
            <a:avLst/>
            <a:gdLst/>
            <a:ahLst/>
            <a:cxnLst/>
            <a:rect l="l" t="t" r="r" b="b"/>
            <a:pathLst>
              <a:path w="7620" h="29210">
                <a:moveTo>
                  <a:pt x="7620" y="28956"/>
                </a:moveTo>
                <a:lnTo>
                  <a:pt x="0" y="28956"/>
                </a:lnTo>
                <a:lnTo>
                  <a:pt x="0" y="0"/>
                </a:lnTo>
                <a:lnTo>
                  <a:pt x="7620" y="0"/>
                </a:lnTo>
                <a:lnTo>
                  <a:pt x="7620" y="28956"/>
                </a:lnTo>
                <a:close/>
              </a:path>
            </a:pathLst>
          </a:custGeom>
          <a:solidFill>
            <a:srgbClr val="212A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90902" y="1639762"/>
            <a:ext cx="5036185" cy="5318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7329" marR="5080" indent="-215265" algn="just">
              <a:lnSpc>
                <a:spcPct val="119100"/>
              </a:lnSpc>
              <a:spcBef>
                <a:spcPts val="90"/>
              </a:spcBef>
              <a:buFont typeface="Wingdings"/>
              <a:buChar char=""/>
              <a:tabLst>
                <a:tab pos="227329" algn="l"/>
                <a:tab pos="656590" algn="l"/>
              </a:tabLst>
            </a:pPr>
            <a:r>
              <a:rPr sz="3350" b="1" i="1" u="sng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AI/ML</a:t>
            </a:r>
            <a:r>
              <a:rPr sz="3350" b="1" i="1" u="sng" spc="70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 </a:t>
            </a:r>
            <a:r>
              <a:rPr sz="3350" b="1" i="1" u="sng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powered</a:t>
            </a:r>
            <a:r>
              <a:rPr sz="3350" b="1" i="1" u="sng" spc="45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 </a:t>
            </a:r>
            <a:r>
              <a:rPr sz="3350" b="1" i="1" u="sng" spc="-10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projects</a:t>
            </a:r>
            <a:r>
              <a:rPr sz="3350" b="1" i="1" spc="-10" dirty="0">
                <a:solidFill>
                  <a:srgbClr val="212A34"/>
                </a:solidFill>
                <a:latin typeface="Calibri"/>
                <a:cs typeface="Calibri"/>
              </a:rPr>
              <a:t> </a:t>
            </a:r>
            <a:r>
              <a:rPr sz="3350" b="1" i="1" u="sng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approaches</a:t>
            </a:r>
            <a:r>
              <a:rPr sz="3350" b="1" i="1" u="sng" spc="30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 </a:t>
            </a:r>
            <a:r>
              <a:rPr sz="3350" b="1" i="1" u="sng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to</a:t>
            </a:r>
            <a:r>
              <a:rPr sz="3350" b="1" i="1" u="sng" spc="30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 </a:t>
            </a:r>
            <a:r>
              <a:rPr sz="3350" b="1" i="1" u="sng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resolve</a:t>
            </a:r>
            <a:r>
              <a:rPr sz="3350" b="1" i="1" u="sng" spc="55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 </a:t>
            </a:r>
            <a:r>
              <a:rPr sz="3350" b="1" i="1" u="sng" spc="-20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land</a:t>
            </a:r>
            <a:r>
              <a:rPr sz="3350" b="1" i="1" spc="-20" dirty="0">
                <a:solidFill>
                  <a:srgbClr val="212A34"/>
                </a:solidFill>
                <a:latin typeface="Calibri"/>
                <a:cs typeface="Calibri"/>
              </a:rPr>
              <a:t> </a:t>
            </a:r>
            <a:r>
              <a:rPr sz="3350" b="1" i="1" u="dash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use</a:t>
            </a:r>
            <a:r>
              <a:rPr sz="3350" b="1" i="1" u="dash" spc="15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 </a:t>
            </a:r>
            <a:r>
              <a:rPr sz="3350" b="1" i="1" u="dash" spc="-10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conflicts</a:t>
            </a:r>
            <a:endParaRPr sz="3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Wingdings"/>
              <a:buChar char=""/>
            </a:pPr>
            <a:endParaRPr sz="3350">
              <a:latin typeface="Calibri"/>
              <a:cs typeface="Calibri"/>
            </a:endParaRPr>
          </a:p>
          <a:p>
            <a:pPr marL="227329" marR="678180" indent="-215265">
              <a:lnSpc>
                <a:spcPct val="118200"/>
              </a:lnSpc>
              <a:buFont typeface="Wingdings"/>
              <a:buChar char=""/>
              <a:tabLst>
                <a:tab pos="227329" algn="l"/>
                <a:tab pos="657225" algn="l"/>
                <a:tab pos="3238500" algn="l"/>
              </a:tabLst>
            </a:pPr>
            <a:r>
              <a:rPr sz="2250" b="1" spc="-10" dirty="0">
                <a:solidFill>
                  <a:srgbClr val="0C0C0C"/>
                </a:solidFill>
                <a:latin typeface="Calibri"/>
                <a:cs typeface="Calibri"/>
              </a:rPr>
              <a:t>COURSE:BTECH</a:t>
            </a:r>
            <a:r>
              <a:rPr sz="2250" b="1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CSE</a:t>
            </a:r>
            <a:r>
              <a:rPr sz="2250" b="1" spc="-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spc="-50" dirty="0">
                <a:solidFill>
                  <a:srgbClr val="0C0C0C"/>
                </a:solidFill>
                <a:latin typeface="Calibri"/>
                <a:cs typeface="Calibri"/>
              </a:rPr>
              <a:t>-</a:t>
            </a: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	</a:t>
            </a:r>
            <a:r>
              <a:rPr sz="2250" b="1" spc="-10" dirty="0">
                <a:solidFill>
                  <a:srgbClr val="0C0C0C"/>
                </a:solidFill>
                <a:latin typeface="Calibri"/>
                <a:cs typeface="Calibri"/>
              </a:rPr>
              <a:t>SECTION- 1CSE26</a:t>
            </a:r>
            <a:endParaRPr sz="2250">
              <a:latin typeface="Calibri"/>
              <a:cs typeface="Calibri"/>
            </a:endParaRPr>
          </a:p>
          <a:p>
            <a:pPr marL="657225" indent="-644525">
              <a:lnSpc>
                <a:spcPct val="100000"/>
              </a:lnSpc>
              <a:spcBef>
                <a:spcPts val="490"/>
              </a:spcBef>
              <a:buFont typeface="Wingdings"/>
              <a:buChar char=""/>
              <a:tabLst>
                <a:tab pos="657225" algn="l"/>
              </a:tabLst>
            </a:pPr>
            <a:r>
              <a:rPr sz="2250" b="1" spc="-10" dirty="0">
                <a:solidFill>
                  <a:srgbClr val="0C0C0C"/>
                </a:solidFill>
                <a:latin typeface="Calibri"/>
                <a:cs typeface="Calibri"/>
              </a:rPr>
              <a:t>SUBJECT:</a:t>
            </a:r>
            <a:r>
              <a:rPr sz="2250" b="1" spc="-8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INTRODUCTION</a:t>
            </a:r>
            <a:r>
              <a:rPr sz="2250" b="1" spc="-6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TO</a:t>
            </a:r>
            <a:r>
              <a:rPr sz="2250" b="1" spc="-8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spc="-10" dirty="0">
                <a:solidFill>
                  <a:srgbClr val="0C0C0C"/>
                </a:solidFill>
                <a:latin typeface="Calibri"/>
                <a:cs typeface="Calibri"/>
              </a:rPr>
              <a:t>AI/ML</a:t>
            </a:r>
            <a:endParaRPr sz="2250">
              <a:latin typeface="Calibri"/>
              <a:cs typeface="Calibri"/>
            </a:endParaRPr>
          </a:p>
          <a:p>
            <a:pPr marL="657225" indent="-644525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657225" algn="l"/>
              </a:tabLst>
            </a:pP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NAME:</a:t>
            </a:r>
            <a:r>
              <a:rPr sz="2250" b="1" spc="-4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ROHIT</a:t>
            </a:r>
            <a:r>
              <a:rPr sz="2250" b="1" spc="-5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spc="-20" dirty="0">
                <a:solidFill>
                  <a:srgbClr val="0C0C0C"/>
                </a:solidFill>
                <a:latin typeface="Calibri"/>
                <a:cs typeface="Calibri"/>
              </a:rPr>
              <a:t>GUPTA</a:t>
            </a:r>
            <a:endParaRPr sz="2250">
              <a:latin typeface="Calibri"/>
              <a:cs typeface="Calibri"/>
            </a:endParaRPr>
          </a:p>
          <a:p>
            <a:pPr marL="657225" indent="-644525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657225" algn="l"/>
                <a:tab pos="2613660" algn="l"/>
              </a:tabLst>
            </a:pP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ROLL</a:t>
            </a:r>
            <a:r>
              <a:rPr sz="2250" b="1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spc="-10" dirty="0">
                <a:solidFill>
                  <a:srgbClr val="0C0C0C"/>
                </a:solidFill>
                <a:latin typeface="Calibri"/>
                <a:cs typeface="Calibri"/>
              </a:rPr>
              <a:t>NUMBER:</a:t>
            </a: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	</a:t>
            </a:r>
            <a:r>
              <a:rPr sz="2250" b="1" spc="-10" dirty="0">
                <a:solidFill>
                  <a:srgbClr val="0C0C0C"/>
                </a:solidFill>
                <a:latin typeface="Calibri"/>
                <a:cs typeface="Calibri"/>
              </a:rPr>
              <a:t>25SCS100300327O</a:t>
            </a:r>
            <a:endParaRPr sz="2250">
              <a:latin typeface="Calibri"/>
              <a:cs typeface="Calibri"/>
            </a:endParaRPr>
          </a:p>
          <a:p>
            <a:pPr marL="657225" indent="-644525">
              <a:lnSpc>
                <a:spcPct val="100000"/>
              </a:lnSpc>
              <a:spcBef>
                <a:spcPts val="490"/>
              </a:spcBef>
              <a:buFont typeface="Wingdings"/>
              <a:buChar char=""/>
              <a:tabLst>
                <a:tab pos="657225" algn="l"/>
              </a:tabLst>
            </a:pP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COLLEGE:</a:t>
            </a:r>
            <a:r>
              <a:rPr sz="2250" b="1" spc="-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IILM</a:t>
            </a:r>
            <a:r>
              <a:rPr sz="2250" b="1" spc="-4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spc="-10" dirty="0">
                <a:solidFill>
                  <a:srgbClr val="0C0C0C"/>
                </a:solidFill>
                <a:latin typeface="Calibri"/>
                <a:cs typeface="Calibri"/>
              </a:rPr>
              <a:t>UNIVERSITY</a:t>
            </a:r>
            <a:endParaRPr sz="2250">
              <a:latin typeface="Calibri"/>
              <a:cs typeface="Calibri"/>
            </a:endParaRPr>
          </a:p>
          <a:p>
            <a:pPr marL="657225" indent="-644525">
              <a:lnSpc>
                <a:spcPct val="100000"/>
              </a:lnSpc>
              <a:spcBef>
                <a:spcPts val="495"/>
              </a:spcBef>
              <a:buFont typeface="Wingdings"/>
              <a:buChar char=""/>
              <a:tabLst>
                <a:tab pos="657225" algn="l"/>
              </a:tabLst>
            </a:pP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SUBMITTED</a:t>
            </a:r>
            <a:r>
              <a:rPr sz="2250" b="1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C0C0C"/>
                </a:solidFill>
                <a:latin typeface="Calibri"/>
                <a:cs typeface="Calibri"/>
              </a:rPr>
              <a:t>TO:</a:t>
            </a:r>
            <a:r>
              <a:rPr sz="2250" b="1" spc="-4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spc="-30" dirty="0">
                <a:solidFill>
                  <a:srgbClr val="0C0C0C"/>
                </a:solidFill>
                <a:latin typeface="Calibri"/>
                <a:cs typeface="Calibri"/>
              </a:rPr>
              <a:t>Dr.SAURAB</a:t>
            </a:r>
            <a:r>
              <a:rPr sz="2250" b="1" spc="-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b="1" spc="-10" dirty="0">
                <a:solidFill>
                  <a:srgbClr val="0C0C0C"/>
                </a:solidFill>
                <a:latin typeface="Calibri"/>
                <a:cs typeface="Calibri"/>
              </a:rPr>
              <a:t>SHANU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121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EVALUATION-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/>
          <p:nvPr/>
        </p:nvSpPr>
        <p:spPr>
          <a:xfrm>
            <a:off x="1967484" y="1443240"/>
            <a:ext cx="3383279" cy="64135"/>
          </a:xfrm>
          <a:custGeom>
            <a:avLst/>
            <a:gdLst/>
            <a:ahLst/>
            <a:cxnLst/>
            <a:rect l="l" t="t" r="r" b="b"/>
            <a:pathLst>
              <a:path w="3383279" h="64134">
                <a:moveTo>
                  <a:pt x="3383280" y="50292"/>
                </a:moveTo>
                <a:lnTo>
                  <a:pt x="0" y="50292"/>
                </a:lnTo>
                <a:lnTo>
                  <a:pt x="0" y="64008"/>
                </a:lnTo>
                <a:lnTo>
                  <a:pt x="3383280" y="64008"/>
                </a:lnTo>
                <a:lnTo>
                  <a:pt x="3383280" y="50292"/>
                </a:lnTo>
                <a:close/>
              </a:path>
              <a:path w="3383279" h="64134">
                <a:moveTo>
                  <a:pt x="3383280" y="0"/>
                </a:moveTo>
                <a:lnTo>
                  <a:pt x="0" y="0"/>
                </a:lnTo>
                <a:lnTo>
                  <a:pt x="0" y="13716"/>
                </a:lnTo>
                <a:lnTo>
                  <a:pt x="3383280" y="13716"/>
                </a:lnTo>
                <a:lnTo>
                  <a:pt x="3383280" y="0"/>
                </a:lnTo>
                <a:close/>
              </a:path>
            </a:pathLst>
          </a:custGeom>
          <a:solidFill>
            <a:srgbClr val="001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06624" y="7638288"/>
            <a:ext cx="47625" cy="13970"/>
          </a:xfrm>
          <a:custGeom>
            <a:avLst/>
            <a:gdLst/>
            <a:ahLst/>
            <a:cxnLst/>
            <a:rect l="l" t="t" r="r" b="b"/>
            <a:pathLst>
              <a:path w="47625" h="13970">
                <a:moveTo>
                  <a:pt x="18288" y="13716"/>
                </a:moveTo>
                <a:lnTo>
                  <a:pt x="0" y="13716"/>
                </a:lnTo>
                <a:lnTo>
                  <a:pt x="0" y="0"/>
                </a:lnTo>
                <a:lnTo>
                  <a:pt x="18288" y="0"/>
                </a:lnTo>
                <a:lnTo>
                  <a:pt x="18288" y="13716"/>
                </a:lnTo>
                <a:close/>
              </a:path>
              <a:path w="47625" h="13970">
                <a:moveTo>
                  <a:pt x="47244" y="13716"/>
                </a:moveTo>
                <a:lnTo>
                  <a:pt x="35052" y="13716"/>
                </a:lnTo>
                <a:lnTo>
                  <a:pt x="35052" y="0"/>
                </a:lnTo>
                <a:lnTo>
                  <a:pt x="47244" y="0"/>
                </a:lnTo>
                <a:lnTo>
                  <a:pt x="47244" y="13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90895" y="1732179"/>
            <a:ext cx="5165090" cy="7053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57225" indent="-64452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657225" algn="l"/>
              </a:tabLst>
            </a:pPr>
            <a:r>
              <a:rPr sz="3350" b="1" u="dash" spc="-25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LINK</a:t>
            </a:r>
            <a:r>
              <a:rPr sz="3350" b="1" u="dash" spc="-145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 </a:t>
            </a:r>
            <a:r>
              <a:rPr sz="3350" b="1" u="dash" spc="-10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WITH</a:t>
            </a:r>
            <a:r>
              <a:rPr sz="3350" b="1" u="dash" spc="-155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 </a:t>
            </a:r>
            <a:r>
              <a:rPr sz="3350" b="1" u="dash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AI</a:t>
            </a:r>
            <a:r>
              <a:rPr sz="3350" b="1" u="dash" spc="-170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 </a:t>
            </a:r>
            <a:r>
              <a:rPr sz="3350" b="1" u="dash" spc="-10" dirty="0">
                <a:solidFill>
                  <a:srgbClr val="212A34"/>
                </a:solidFill>
                <a:uFill>
                  <a:solidFill>
                    <a:srgbClr val="212A34"/>
                  </a:solidFill>
                </a:uFill>
                <a:latin typeface="Calibri"/>
                <a:cs typeface="Calibri"/>
              </a:rPr>
              <a:t>CONCEPT</a:t>
            </a:r>
            <a:endParaRPr sz="3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40"/>
              </a:spcBef>
            </a:pPr>
            <a:endParaRPr sz="3350">
              <a:latin typeface="Calibri"/>
              <a:cs typeface="Calibri"/>
            </a:endParaRPr>
          </a:p>
          <a:p>
            <a:pPr marL="657225" indent="-644525">
              <a:lnSpc>
                <a:spcPct val="100000"/>
              </a:lnSpc>
              <a:buFont typeface="Symbol"/>
              <a:buChar char=""/>
              <a:tabLst>
                <a:tab pos="657225" algn="l"/>
              </a:tabLst>
            </a:pPr>
            <a:r>
              <a:rPr sz="4500" b="1" u="heavy" spc="-50" dirty="0">
                <a:solidFill>
                  <a:srgbClr val="3B3838"/>
                </a:solidFill>
                <a:uFill>
                  <a:solidFill>
                    <a:srgbClr val="3A3838"/>
                  </a:solidFill>
                </a:uFill>
                <a:latin typeface="Calibri"/>
                <a:cs typeface="Calibri"/>
              </a:rPr>
              <a:t>LINK</a:t>
            </a:r>
            <a:r>
              <a:rPr sz="4500" b="1" u="heavy" spc="-190" dirty="0">
                <a:solidFill>
                  <a:srgbClr val="3B3838"/>
                </a:solidFill>
                <a:uFill>
                  <a:solidFill>
                    <a:srgbClr val="3A3838"/>
                  </a:solidFill>
                </a:uFill>
                <a:latin typeface="Calibri"/>
                <a:cs typeface="Calibri"/>
              </a:rPr>
              <a:t> </a:t>
            </a:r>
            <a:r>
              <a:rPr sz="4500" b="1" u="heavy" spc="-45" dirty="0">
                <a:solidFill>
                  <a:srgbClr val="3B3838"/>
                </a:solidFill>
                <a:uFill>
                  <a:solidFill>
                    <a:srgbClr val="3A3838"/>
                  </a:solidFill>
                </a:uFill>
                <a:latin typeface="Calibri"/>
                <a:cs typeface="Calibri"/>
              </a:rPr>
              <a:t>TO</a:t>
            </a:r>
            <a:r>
              <a:rPr sz="4500" b="1" u="heavy" spc="-210" dirty="0">
                <a:solidFill>
                  <a:srgbClr val="3B3838"/>
                </a:solidFill>
                <a:uFill>
                  <a:solidFill>
                    <a:srgbClr val="3A3838"/>
                  </a:solidFill>
                </a:uFill>
                <a:latin typeface="Calibri"/>
                <a:cs typeface="Calibri"/>
              </a:rPr>
              <a:t> </a:t>
            </a:r>
            <a:r>
              <a:rPr sz="4500" b="1" u="heavy" spc="-25" dirty="0">
                <a:solidFill>
                  <a:srgbClr val="3B3838"/>
                </a:solidFill>
                <a:uFill>
                  <a:solidFill>
                    <a:srgbClr val="3A3838"/>
                  </a:solidFill>
                </a:uFill>
                <a:latin typeface="Calibri"/>
                <a:cs typeface="Calibri"/>
              </a:rPr>
              <a:t>UNIT</a:t>
            </a:r>
            <a:r>
              <a:rPr sz="4500" b="1" u="heavy" spc="-210" dirty="0">
                <a:solidFill>
                  <a:srgbClr val="3B3838"/>
                </a:solidFill>
                <a:uFill>
                  <a:solidFill>
                    <a:srgbClr val="3A3838"/>
                  </a:solidFill>
                </a:uFill>
                <a:latin typeface="Calibri"/>
                <a:cs typeface="Calibri"/>
              </a:rPr>
              <a:t> </a:t>
            </a:r>
            <a:r>
              <a:rPr sz="4500" b="1" u="heavy" spc="-50" dirty="0">
                <a:solidFill>
                  <a:srgbClr val="3B3838"/>
                </a:solidFill>
                <a:uFill>
                  <a:solidFill>
                    <a:srgbClr val="3A3838"/>
                  </a:solidFill>
                </a:uFill>
                <a:latin typeface="Calibri"/>
                <a:cs typeface="Calibri"/>
              </a:rPr>
              <a:t>1</a:t>
            </a:r>
            <a:endParaRPr sz="4500">
              <a:latin typeface="Calibri"/>
              <a:cs typeface="Calibri"/>
            </a:endParaRPr>
          </a:p>
          <a:p>
            <a:pPr marL="226060" marR="288290" indent="-213995" algn="just">
              <a:lnSpc>
                <a:spcPct val="118800"/>
              </a:lnSpc>
              <a:spcBef>
                <a:spcPts val="630"/>
              </a:spcBef>
              <a:buClr>
                <a:srgbClr val="1F3864"/>
              </a:buClr>
              <a:buAutoNum type="arabicPeriod"/>
              <a:tabLst>
                <a:tab pos="227329" algn="l"/>
              </a:tabLst>
            </a:pPr>
            <a:r>
              <a:rPr sz="2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MEANING</a:t>
            </a:r>
            <a:r>
              <a:rPr sz="205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05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AI</a:t>
            </a:r>
            <a:r>
              <a:rPr sz="2050" u="sng" dirty="0">
                <a:solidFill>
                  <a:srgbClr val="1F3864"/>
                </a:solidFill>
                <a:uFill>
                  <a:solidFill>
                    <a:srgbClr val="1F3864"/>
                  </a:solidFill>
                </a:uFill>
                <a:latin typeface="Calibri"/>
                <a:cs typeface="Calibri"/>
              </a:rPr>
              <a:t>-</a:t>
            </a:r>
            <a:r>
              <a:rPr sz="2050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My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project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displays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how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AI 	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be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used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analyse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and</a:t>
            </a:r>
            <a:r>
              <a:rPr sz="2050" b="1" spc="-10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predict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land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use 	conflicts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in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less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time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and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more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accuracy</a:t>
            </a:r>
            <a:r>
              <a:rPr sz="2050" spc="-10" dirty="0">
                <a:solidFill>
                  <a:srgbClr val="1F3864"/>
                </a:solidFill>
                <a:latin typeface="Calibri"/>
                <a:cs typeface="Calibri"/>
              </a:rPr>
              <a:t>.</a:t>
            </a:r>
            <a:endParaRPr sz="2050">
              <a:latin typeface="Calibri"/>
              <a:cs typeface="Calibri"/>
            </a:endParaRPr>
          </a:p>
          <a:p>
            <a:pPr marL="226695" indent="-214629">
              <a:lnSpc>
                <a:spcPct val="100000"/>
              </a:lnSpc>
              <a:spcBef>
                <a:spcPts val="480"/>
              </a:spcBef>
              <a:buClr>
                <a:srgbClr val="1F3864"/>
              </a:buClr>
              <a:buFont typeface="Calibri"/>
              <a:buAutoNum type="arabicPeriod"/>
              <a:tabLst>
                <a:tab pos="226695" algn="l"/>
              </a:tabLst>
            </a:pPr>
            <a:r>
              <a:rPr sz="2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NEUROSCIENCE</a:t>
            </a:r>
            <a:r>
              <a:rPr sz="205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&amp;</a:t>
            </a:r>
            <a:r>
              <a:rPr sz="20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5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PSYCHOLOGY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-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AI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is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inspired</a:t>
            </a:r>
            <a:endParaRPr sz="2050">
              <a:latin typeface="Calibri"/>
              <a:cs typeface="Calibri"/>
            </a:endParaRPr>
          </a:p>
          <a:p>
            <a:pPr marL="227329" marR="367665">
              <a:lnSpc>
                <a:spcPts val="2930"/>
              </a:lnSpc>
              <a:spcBef>
                <a:spcPts val="165"/>
              </a:spcBef>
            </a:pP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by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human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brain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and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try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replicate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it.In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my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project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AI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thinks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about</a:t>
            </a:r>
            <a:r>
              <a:rPr sz="2050" b="1" spc="-9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land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decisions.</a:t>
            </a:r>
            <a:endParaRPr sz="2050">
              <a:latin typeface="Calibri"/>
              <a:cs typeface="Calibri"/>
            </a:endParaRPr>
          </a:p>
          <a:p>
            <a:pPr marL="226695" indent="-213995">
              <a:lnSpc>
                <a:spcPct val="100000"/>
              </a:lnSpc>
              <a:spcBef>
                <a:spcPts val="275"/>
              </a:spcBef>
              <a:buAutoNum type="arabicPeriod" startAt="3"/>
              <a:tabLst>
                <a:tab pos="226695" algn="l"/>
              </a:tabLst>
            </a:pPr>
            <a:r>
              <a:rPr sz="2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COMPUTER</a:t>
            </a:r>
            <a:r>
              <a:rPr sz="205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ENGINEERING</a:t>
            </a:r>
            <a:r>
              <a:rPr sz="2050" dirty="0">
                <a:latin typeface="Calibri"/>
                <a:cs typeface="Calibri"/>
              </a:rPr>
              <a:t>-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Required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build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a</a:t>
            </a:r>
            <a:endParaRPr sz="2050">
              <a:latin typeface="Calibri"/>
              <a:cs typeface="Calibri"/>
            </a:endParaRPr>
          </a:p>
          <a:p>
            <a:pPr marL="227329" marR="5080">
              <a:lnSpc>
                <a:spcPct val="119000"/>
              </a:lnSpc>
            </a:pP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technology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that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process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maps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and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satellite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image.</a:t>
            </a:r>
            <a:endParaRPr sz="2050">
              <a:latin typeface="Calibri"/>
              <a:cs typeface="Calibri"/>
            </a:endParaRPr>
          </a:p>
          <a:p>
            <a:pPr marL="226060" marR="793750" indent="-213995">
              <a:lnSpc>
                <a:spcPts val="2930"/>
              </a:lnSpc>
              <a:spcBef>
                <a:spcPts val="165"/>
              </a:spcBef>
              <a:buAutoNum type="arabicPeriod" startAt="4"/>
              <a:tabLst>
                <a:tab pos="227329" algn="l"/>
              </a:tabLst>
            </a:pPr>
            <a:r>
              <a:rPr sz="205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BENEFITS</a:t>
            </a:r>
            <a:r>
              <a:rPr sz="2050" spc="-10" dirty="0">
                <a:latin typeface="Calibri"/>
                <a:cs typeface="Calibri"/>
              </a:rPr>
              <a:t>-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Sustainable</a:t>
            </a:r>
            <a:r>
              <a:rPr sz="20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land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use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,reduce 	conflicts.</a:t>
            </a:r>
            <a:endParaRPr sz="2050">
              <a:latin typeface="Calibri"/>
              <a:cs typeface="Calibri"/>
            </a:endParaRPr>
          </a:p>
          <a:p>
            <a:pPr marL="226695" indent="-213995">
              <a:lnSpc>
                <a:spcPct val="100000"/>
              </a:lnSpc>
              <a:spcBef>
                <a:spcPts val="275"/>
              </a:spcBef>
              <a:buAutoNum type="arabicPeriod" startAt="4"/>
              <a:tabLst>
                <a:tab pos="226695" algn="l"/>
              </a:tabLst>
            </a:pPr>
            <a:r>
              <a:rPr sz="2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RISK-</a:t>
            </a:r>
            <a:r>
              <a:rPr sz="2050" spc="-75" dirty="0"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wrong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prediction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lead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disputes</a:t>
            </a:r>
            <a:endParaRPr sz="2050">
              <a:latin typeface="Calibri"/>
              <a:cs typeface="Calibri"/>
            </a:endParaRPr>
          </a:p>
          <a:p>
            <a:pPr marL="227329">
              <a:lnSpc>
                <a:spcPct val="100000"/>
              </a:lnSpc>
              <a:spcBef>
                <a:spcPts val="480"/>
              </a:spcBef>
            </a:pP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and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economical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loss.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5196" y="552089"/>
            <a:ext cx="5213350" cy="7778115"/>
          </a:xfrm>
          <a:prstGeom prst="rect">
            <a:avLst/>
          </a:prstGeom>
        </p:spPr>
        <p:txBody>
          <a:bodyPr vert="horz" wrap="square" lIns="0" tIns="313055" rIns="0" bIns="0" rtlCol="0">
            <a:spAutoFit/>
          </a:bodyPr>
          <a:lstStyle/>
          <a:p>
            <a:pPr marL="702310" indent="-429259">
              <a:lnSpc>
                <a:spcPct val="100000"/>
              </a:lnSpc>
              <a:spcBef>
                <a:spcPts val="2465"/>
              </a:spcBef>
              <a:buFont typeface="Symbol"/>
              <a:buChar char=""/>
              <a:tabLst>
                <a:tab pos="702310" algn="l"/>
              </a:tabLst>
            </a:pPr>
            <a:r>
              <a:rPr sz="4500" b="1" u="sng" spc="-50" dirty="0">
                <a:solidFill>
                  <a:srgbClr val="181616"/>
                </a:solidFill>
                <a:uFill>
                  <a:solidFill>
                    <a:srgbClr val="161616"/>
                  </a:solidFill>
                </a:uFill>
                <a:latin typeface="Calibri"/>
                <a:cs typeface="Calibri"/>
              </a:rPr>
              <a:t>LINK</a:t>
            </a:r>
            <a:r>
              <a:rPr sz="4500" b="1" u="sng" spc="-190" dirty="0">
                <a:solidFill>
                  <a:srgbClr val="181616"/>
                </a:solidFill>
                <a:uFill>
                  <a:solidFill>
                    <a:srgbClr val="161616"/>
                  </a:solidFill>
                </a:uFill>
                <a:latin typeface="Calibri"/>
                <a:cs typeface="Calibri"/>
              </a:rPr>
              <a:t> </a:t>
            </a:r>
            <a:r>
              <a:rPr sz="4500" b="1" u="sng" spc="-45" dirty="0">
                <a:solidFill>
                  <a:srgbClr val="181616"/>
                </a:solidFill>
                <a:uFill>
                  <a:solidFill>
                    <a:srgbClr val="161616"/>
                  </a:solidFill>
                </a:uFill>
                <a:latin typeface="Calibri"/>
                <a:cs typeface="Calibri"/>
              </a:rPr>
              <a:t>TO</a:t>
            </a:r>
            <a:r>
              <a:rPr sz="4500" b="1" u="sng" spc="-210" dirty="0">
                <a:solidFill>
                  <a:srgbClr val="181616"/>
                </a:solidFill>
                <a:uFill>
                  <a:solidFill>
                    <a:srgbClr val="161616"/>
                  </a:solidFill>
                </a:uFill>
                <a:latin typeface="Calibri"/>
                <a:cs typeface="Calibri"/>
              </a:rPr>
              <a:t> </a:t>
            </a:r>
            <a:r>
              <a:rPr sz="4500" b="1" u="sng" spc="-25" dirty="0">
                <a:solidFill>
                  <a:srgbClr val="181616"/>
                </a:solidFill>
                <a:uFill>
                  <a:solidFill>
                    <a:srgbClr val="161616"/>
                  </a:solidFill>
                </a:uFill>
                <a:latin typeface="Calibri"/>
                <a:cs typeface="Calibri"/>
              </a:rPr>
              <a:t>UNIT</a:t>
            </a:r>
            <a:r>
              <a:rPr sz="4500" b="1" u="sng" spc="-210" dirty="0">
                <a:solidFill>
                  <a:srgbClr val="181616"/>
                </a:solidFill>
                <a:uFill>
                  <a:solidFill>
                    <a:srgbClr val="161616"/>
                  </a:solidFill>
                </a:uFill>
                <a:latin typeface="Calibri"/>
                <a:cs typeface="Calibri"/>
              </a:rPr>
              <a:t> </a:t>
            </a:r>
            <a:r>
              <a:rPr sz="4500" b="1" u="sng" spc="-50" dirty="0">
                <a:solidFill>
                  <a:srgbClr val="181616"/>
                </a:solidFill>
                <a:uFill>
                  <a:solidFill>
                    <a:srgbClr val="161616"/>
                  </a:solidFill>
                </a:uFill>
                <a:latin typeface="Calibri"/>
                <a:cs typeface="Calibri"/>
              </a:rPr>
              <a:t>2</a:t>
            </a:r>
            <a:endParaRPr sz="4500">
              <a:latin typeface="Calibri"/>
              <a:cs typeface="Calibri"/>
            </a:endParaRPr>
          </a:p>
          <a:p>
            <a:pPr marL="226060" marR="563880" indent="-214629">
              <a:lnSpc>
                <a:spcPct val="119000"/>
              </a:lnSpc>
              <a:spcBef>
                <a:spcPts val="630"/>
              </a:spcBef>
              <a:buClr>
                <a:srgbClr val="181616"/>
              </a:buClr>
              <a:buAutoNum type="arabicPeriod"/>
              <a:tabLst>
                <a:tab pos="227329" algn="l"/>
              </a:tabLst>
            </a:pPr>
            <a:r>
              <a:rPr sz="2050" b="1" u="sng" spc="-2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INTELLIGENT</a:t>
            </a:r>
            <a:r>
              <a:rPr sz="2050" b="1" u="sng" spc="-3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</a:t>
            </a:r>
            <a:r>
              <a:rPr sz="2050" b="1" u="sng" spc="-7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AGENT</a:t>
            </a:r>
            <a:r>
              <a:rPr sz="2050" b="1" u="sng" spc="-70" dirty="0">
                <a:solidFill>
                  <a:srgbClr val="1F3864"/>
                </a:solidFill>
                <a:uFill>
                  <a:solidFill>
                    <a:srgbClr val="1F3864"/>
                  </a:solidFill>
                </a:uFill>
                <a:latin typeface="Calibri"/>
                <a:cs typeface="Calibri"/>
              </a:rPr>
              <a:t>-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It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will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act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like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agent 	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which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9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study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land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,map,etc.</a:t>
            </a:r>
            <a:endParaRPr sz="2050">
              <a:latin typeface="Calibri"/>
              <a:cs typeface="Calibri"/>
            </a:endParaRPr>
          </a:p>
          <a:p>
            <a:pPr marL="226695" indent="-214629">
              <a:lnSpc>
                <a:spcPct val="100000"/>
              </a:lnSpc>
              <a:spcBef>
                <a:spcPts val="455"/>
              </a:spcBef>
              <a:buClr>
                <a:srgbClr val="181616"/>
              </a:buClr>
              <a:buAutoNum type="arabicPeriod"/>
              <a:tabLst>
                <a:tab pos="226695" algn="l"/>
              </a:tabLst>
            </a:pPr>
            <a:r>
              <a:rPr sz="2050" b="1" u="sng" spc="-6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ENVIRONMENT-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The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purpose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the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projects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is</a:t>
            </a:r>
            <a:endParaRPr sz="2050">
              <a:latin typeface="Calibri"/>
              <a:cs typeface="Calibri"/>
            </a:endParaRPr>
          </a:p>
          <a:p>
            <a:pPr marL="227329" marR="5080">
              <a:lnSpc>
                <a:spcPct val="118500"/>
              </a:lnSpc>
              <a:spcBef>
                <a:spcPts val="25"/>
              </a:spcBef>
            </a:pP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create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sustainable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environment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with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no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land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disputes.</a:t>
            </a:r>
            <a:endParaRPr sz="2050">
              <a:latin typeface="Calibri"/>
              <a:cs typeface="Calibri"/>
            </a:endParaRPr>
          </a:p>
          <a:p>
            <a:pPr marL="226060" marR="85725" indent="-214629">
              <a:lnSpc>
                <a:spcPct val="118800"/>
              </a:lnSpc>
              <a:spcBef>
                <a:spcPts val="5"/>
              </a:spcBef>
              <a:buClr>
                <a:srgbClr val="181616"/>
              </a:buClr>
              <a:buAutoNum type="arabicPeriod" startAt="3"/>
              <a:tabLst>
                <a:tab pos="227329" algn="l"/>
              </a:tabLst>
            </a:pPr>
            <a:r>
              <a:rPr sz="2050" b="1" u="sng" spc="-2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PROBLEM</a:t>
            </a:r>
            <a:r>
              <a:rPr sz="2050" b="1" u="sng" spc="-6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</a:t>
            </a:r>
            <a:r>
              <a:rPr sz="2050" b="1" u="sng" spc="-5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SOLVING</a:t>
            </a:r>
            <a:r>
              <a:rPr sz="2050" b="1" u="sng" spc="-6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</a:t>
            </a:r>
            <a:r>
              <a:rPr sz="2050" b="1" u="sng" spc="-6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AGENT-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The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project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tries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to 	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solve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the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problem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potential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land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disputes 	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which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9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occur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in</a:t>
            </a:r>
            <a:r>
              <a:rPr sz="2050" b="1" spc="-10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future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and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tries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solve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it 	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with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the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help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ai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agent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for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the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sustainable 	future.</a:t>
            </a:r>
            <a:endParaRPr sz="2050">
              <a:latin typeface="Calibri"/>
              <a:cs typeface="Calibri"/>
            </a:endParaRPr>
          </a:p>
          <a:p>
            <a:pPr marL="226060" marR="91440" indent="-214629">
              <a:lnSpc>
                <a:spcPct val="118900"/>
              </a:lnSpc>
              <a:spcBef>
                <a:spcPts val="5"/>
              </a:spcBef>
              <a:buClr>
                <a:srgbClr val="181616"/>
              </a:buClr>
              <a:buAutoNum type="arabicPeriod" startAt="3"/>
              <a:tabLst>
                <a:tab pos="227329" algn="l"/>
              </a:tabLst>
            </a:pPr>
            <a:r>
              <a:rPr sz="2050" b="1" u="sng" spc="-2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SEARCH</a:t>
            </a:r>
            <a:r>
              <a:rPr sz="2050" b="1" u="sng" spc="-9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</a:t>
            </a:r>
            <a:r>
              <a:rPr sz="2050" b="1" u="sng" spc="-3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PROBLEMS-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Finding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the</a:t>
            </a:r>
            <a:r>
              <a:rPr sz="2050" b="1" spc="-9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best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possible 	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way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10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use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land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without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any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disputes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between 	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farmers,environmentalist</a:t>
            </a:r>
            <a:r>
              <a:rPr sz="20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and</a:t>
            </a:r>
            <a:r>
              <a:rPr sz="2050" b="1" spc="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urban 	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development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planner.</a:t>
            </a:r>
            <a:endParaRPr sz="2050">
              <a:latin typeface="Calibri"/>
              <a:cs typeface="Calibri"/>
            </a:endParaRPr>
          </a:p>
          <a:p>
            <a:pPr marL="226060" marR="19685" indent="-214629">
              <a:lnSpc>
                <a:spcPct val="118900"/>
              </a:lnSpc>
              <a:buClr>
                <a:srgbClr val="181616"/>
              </a:buClr>
              <a:buAutoNum type="arabicPeriod" startAt="3"/>
              <a:tabLst>
                <a:tab pos="227329" algn="l"/>
              </a:tabLst>
            </a:pPr>
            <a:r>
              <a:rPr sz="2050" b="1" u="sng" spc="-2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SEARCH</a:t>
            </a:r>
            <a:r>
              <a:rPr sz="2050" b="1" u="sng" spc="-4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ALGORITHMS-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Search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algorithms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can 	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be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used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see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different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options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.for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example- 	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where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do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urbanization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which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me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cause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least 	conflicts.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0895" y="552089"/>
            <a:ext cx="5186045" cy="8520430"/>
          </a:xfrm>
          <a:prstGeom prst="rect">
            <a:avLst/>
          </a:prstGeom>
        </p:spPr>
        <p:txBody>
          <a:bodyPr vert="horz" wrap="square" lIns="0" tIns="313055" rIns="0" bIns="0" rtlCol="0">
            <a:spAutoFit/>
          </a:bodyPr>
          <a:lstStyle/>
          <a:p>
            <a:pPr marL="656590" indent="-429259">
              <a:lnSpc>
                <a:spcPct val="100000"/>
              </a:lnSpc>
              <a:spcBef>
                <a:spcPts val="2465"/>
              </a:spcBef>
              <a:buClr>
                <a:srgbClr val="181616"/>
              </a:buClr>
              <a:buFont typeface="Symbol"/>
              <a:buChar char=""/>
              <a:tabLst>
                <a:tab pos="656590" algn="l"/>
              </a:tabLst>
            </a:pPr>
            <a:r>
              <a:rPr sz="4500" b="1" u="sng" spc="-5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LINK</a:t>
            </a:r>
            <a:r>
              <a:rPr sz="4500" b="1" u="sng" spc="-19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</a:t>
            </a:r>
            <a:r>
              <a:rPr sz="4500" b="1" u="sng" spc="-4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TO</a:t>
            </a:r>
            <a:r>
              <a:rPr sz="4500" b="1" u="sng" spc="-21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</a:t>
            </a:r>
            <a:r>
              <a:rPr sz="4500" b="1" u="sng" spc="-2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UNIT</a:t>
            </a:r>
            <a:r>
              <a:rPr sz="4500" b="1" u="sng" spc="-21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</a:t>
            </a:r>
            <a:r>
              <a:rPr sz="4500" b="1" u="sng" spc="-5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3</a:t>
            </a:r>
            <a:endParaRPr sz="4500">
              <a:latin typeface="Calibri"/>
              <a:cs typeface="Calibri"/>
            </a:endParaRPr>
          </a:p>
          <a:p>
            <a:pPr marL="226695" indent="-214629">
              <a:lnSpc>
                <a:spcPct val="100000"/>
              </a:lnSpc>
              <a:spcBef>
                <a:spcPts val="1095"/>
              </a:spcBef>
              <a:buClr>
                <a:srgbClr val="181616"/>
              </a:buClr>
              <a:buAutoNum type="arabicPeriod"/>
              <a:tabLst>
                <a:tab pos="226695" algn="l"/>
              </a:tabLst>
            </a:pPr>
            <a:r>
              <a:rPr sz="2050" b="1" u="sng" spc="-3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KNOWLEDGE</a:t>
            </a:r>
            <a:r>
              <a:rPr sz="2050" b="1" u="sng" spc="9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</a:t>
            </a:r>
            <a:r>
              <a:rPr sz="2050" b="1" u="sng" spc="-6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REPRESENTATION-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It</a:t>
            </a:r>
            <a:endParaRPr sz="2050">
              <a:latin typeface="Calibri"/>
              <a:cs typeface="Calibri"/>
            </a:endParaRPr>
          </a:p>
          <a:p>
            <a:pPr marL="227329" marR="109855">
              <a:lnSpc>
                <a:spcPct val="119000"/>
              </a:lnSpc>
            </a:pP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representation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different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kinds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lands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such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as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urban,agriculture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and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forest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which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be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represented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as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frames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or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semantic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networks.</a:t>
            </a:r>
            <a:endParaRPr sz="2050">
              <a:latin typeface="Calibri"/>
              <a:cs typeface="Calibri"/>
            </a:endParaRPr>
          </a:p>
          <a:p>
            <a:pPr marL="226695" indent="-214629">
              <a:lnSpc>
                <a:spcPct val="100000"/>
              </a:lnSpc>
              <a:spcBef>
                <a:spcPts val="459"/>
              </a:spcBef>
              <a:buClr>
                <a:srgbClr val="181616"/>
              </a:buClr>
              <a:buAutoNum type="arabicPeriod" startAt="2"/>
              <a:tabLst>
                <a:tab pos="226695" algn="l"/>
              </a:tabLst>
            </a:pPr>
            <a:r>
              <a:rPr sz="2050" b="1" u="sng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Logics</a:t>
            </a:r>
            <a:r>
              <a:rPr sz="2050" b="1" u="sng" spc="-7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</a:t>
            </a:r>
            <a:r>
              <a:rPr sz="2050" b="1" u="sng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and</a:t>
            </a:r>
            <a:r>
              <a:rPr sz="2050" b="1" u="sng" spc="-75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 </a:t>
            </a:r>
            <a:r>
              <a:rPr sz="2050" b="1" u="sng" spc="-30" dirty="0">
                <a:solidFill>
                  <a:srgbClr val="0C0C0C"/>
                </a:solidFill>
                <a:uFill>
                  <a:solidFill>
                    <a:srgbClr val="0C0C0C"/>
                  </a:solidFill>
                </a:uFill>
                <a:latin typeface="Calibri"/>
                <a:cs typeface="Calibri"/>
              </a:rPr>
              <a:t>rules-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This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9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are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related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each</a:t>
            </a:r>
            <a:endParaRPr sz="2050">
              <a:latin typeface="Calibri"/>
              <a:cs typeface="Calibri"/>
            </a:endParaRPr>
          </a:p>
          <a:p>
            <a:pPr marL="227329" marR="5080">
              <a:lnSpc>
                <a:spcPct val="118800"/>
              </a:lnSpc>
              <a:spcBef>
                <a:spcPts val="5"/>
              </a:spcBef>
            </a:pP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others,rules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be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make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on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based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on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logics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behind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it.For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example-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if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there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is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fertile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piece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land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so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rule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be</a:t>
            </a:r>
            <a:r>
              <a:rPr sz="2050" b="1" spc="-9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make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that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it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only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use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for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agriculture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purpose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and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if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there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is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dead land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with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no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vegetation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is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possible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so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it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be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use</a:t>
            </a:r>
            <a:r>
              <a:rPr sz="2050" b="1" spc="-10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for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urbanization.</a:t>
            </a:r>
            <a:endParaRPr sz="2050">
              <a:latin typeface="Calibri"/>
              <a:cs typeface="Calibri"/>
            </a:endParaRPr>
          </a:p>
          <a:p>
            <a:pPr marL="226060" marR="226695" indent="-214629">
              <a:lnSpc>
                <a:spcPts val="2940"/>
              </a:lnSpc>
              <a:spcBef>
                <a:spcPts val="150"/>
              </a:spcBef>
              <a:buAutoNum type="arabicPeriod" startAt="3"/>
              <a:tabLst>
                <a:tab pos="227329" algn="l"/>
              </a:tabLst>
            </a:pPr>
            <a:r>
              <a:rPr sz="2050" b="1" u="sng" spc="-10" dirty="0">
                <a:solidFill>
                  <a:srgbClr val="181616"/>
                </a:solidFill>
                <a:uFill>
                  <a:solidFill>
                    <a:srgbClr val="161616"/>
                  </a:solidFill>
                </a:uFill>
                <a:latin typeface="Calibri"/>
                <a:cs typeface="Calibri"/>
              </a:rPr>
              <a:t>SEMENTIC</a:t>
            </a:r>
            <a:r>
              <a:rPr sz="2050" b="1" u="sng" spc="-65" dirty="0">
                <a:solidFill>
                  <a:srgbClr val="181616"/>
                </a:solidFill>
                <a:uFill>
                  <a:solidFill>
                    <a:srgbClr val="161616"/>
                  </a:solidFill>
                </a:uFill>
                <a:latin typeface="Calibri"/>
                <a:cs typeface="Calibri"/>
              </a:rPr>
              <a:t> </a:t>
            </a:r>
            <a:r>
              <a:rPr sz="2050" b="1" u="sng" spc="-50" dirty="0">
                <a:solidFill>
                  <a:srgbClr val="181616"/>
                </a:solidFill>
                <a:uFill>
                  <a:solidFill>
                    <a:srgbClr val="161616"/>
                  </a:solidFill>
                </a:uFill>
                <a:latin typeface="Calibri"/>
                <a:cs typeface="Calibri"/>
              </a:rPr>
              <a:t>NETWORK-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It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is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way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represent 	using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nodes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and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links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.</a:t>
            </a:r>
            <a:endParaRPr sz="2050">
              <a:latin typeface="Calibri"/>
              <a:cs typeface="Calibri"/>
            </a:endParaRPr>
          </a:p>
          <a:p>
            <a:pPr marL="227329">
              <a:lnSpc>
                <a:spcPct val="100000"/>
              </a:lnSpc>
              <a:spcBef>
                <a:spcPts val="280"/>
              </a:spcBef>
            </a:pPr>
            <a:r>
              <a:rPr sz="2050" b="1" dirty="0">
                <a:solidFill>
                  <a:srgbClr val="181616"/>
                </a:solidFill>
                <a:latin typeface="Calibri"/>
                <a:cs typeface="Calibri"/>
              </a:rPr>
              <a:t>-</a:t>
            </a:r>
            <a:r>
              <a:rPr sz="2050" b="1" spc="-20" dirty="0">
                <a:solidFill>
                  <a:srgbClr val="181616"/>
                </a:solidFill>
                <a:latin typeface="Calibri"/>
                <a:cs typeface="Calibri"/>
              </a:rPr>
              <a:t>NODES=</a:t>
            </a:r>
            <a:r>
              <a:rPr sz="2050" b="1" spc="-55" dirty="0">
                <a:solidFill>
                  <a:srgbClr val="181616"/>
                </a:solidFill>
                <a:latin typeface="Calibri"/>
                <a:cs typeface="Calibri"/>
              </a:rPr>
              <a:t> 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Type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of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land</a:t>
            </a:r>
            <a:endParaRPr sz="205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470"/>
              </a:spcBef>
            </a:pPr>
            <a:r>
              <a:rPr sz="2050" b="1" spc="-10" dirty="0">
                <a:solidFill>
                  <a:srgbClr val="181616"/>
                </a:solidFill>
                <a:latin typeface="Calibri"/>
                <a:cs typeface="Calibri"/>
              </a:rPr>
              <a:t>-LINKS=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Conflicts</a:t>
            </a:r>
            <a:endParaRPr sz="2050">
              <a:latin typeface="Calibri"/>
              <a:cs typeface="Calibri"/>
            </a:endParaRPr>
          </a:p>
          <a:p>
            <a:pPr marL="227329">
              <a:lnSpc>
                <a:spcPct val="100000"/>
              </a:lnSpc>
              <a:spcBef>
                <a:spcPts val="455"/>
              </a:spcBef>
            </a:pPr>
            <a:r>
              <a:rPr sz="2050" b="1" dirty="0">
                <a:solidFill>
                  <a:srgbClr val="181616"/>
                </a:solidFill>
                <a:latin typeface="Calibri"/>
                <a:cs typeface="Calibri"/>
              </a:rPr>
              <a:t>-</a:t>
            </a:r>
            <a:r>
              <a:rPr sz="2050" b="1" spc="-10" dirty="0">
                <a:solidFill>
                  <a:srgbClr val="181616"/>
                </a:solidFill>
                <a:latin typeface="Calibri"/>
                <a:cs typeface="Calibri"/>
              </a:rPr>
              <a:t>CONFLICTS</a:t>
            </a:r>
            <a:r>
              <a:rPr sz="2050" b="1" spc="-40" dirty="0">
                <a:solidFill>
                  <a:srgbClr val="181616"/>
                </a:solidFill>
                <a:latin typeface="Calibri"/>
                <a:cs typeface="Calibri"/>
              </a:rPr>
              <a:t> </a:t>
            </a:r>
            <a:r>
              <a:rPr sz="2050" b="1" spc="-45" dirty="0">
                <a:solidFill>
                  <a:srgbClr val="181616"/>
                </a:solidFill>
                <a:latin typeface="Calibri"/>
                <a:cs typeface="Calibri"/>
              </a:rPr>
              <a:t>IDENTIFICATION=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By</a:t>
            </a:r>
            <a:r>
              <a:rPr sz="2050" b="1" spc="-1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mapping-</a:t>
            </a:r>
            <a:endParaRPr sz="2050">
              <a:latin typeface="Calibri"/>
              <a:cs typeface="Calibri"/>
            </a:endParaRPr>
          </a:p>
          <a:p>
            <a:pPr marL="227329" marR="114935">
              <a:lnSpc>
                <a:spcPct val="118900"/>
              </a:lnSpc>
            </a:pP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semantic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network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shows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where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conflict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will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happen.For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example-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if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industries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 expand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near </a:t>
            </a:r>
            <a:r>
              <a:rPr sz="2050" b="1" spc="-30" dirty="0">
                <a:solidFill>
                  <a:srgbClr val="1F3864"/>
                </a:solidFill>
                <a:latin typeface="Calibri"/>
                <a:cs typeface="Calibri"/>
              </a:rPr>
              <a:t>agricultural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land,the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network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highlights 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a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potential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conflicts.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5818" y="780379"/>
            <a:ext cx="4963160" cy="15100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85"/>
              </a:spcBef>
            </a:pPr>
            <a:r>
              <a:rPr sz="2050" b="1" dirty="0">
                <a:solidFill>
                  <a:srgbClr val="181616"/>
                </a:solidFill>
                <a:latin typeface="Calibri"/>
                <a:cs typeface="Calibri"/>
              </a:rPr>
              <a:t>-</a:t>
            </a:r>
            <a:r>
              <a:rPr sz="2050" b="1" spc="-25" dirty="0">
                <a:solidFill>
                  <a:srgbClr val="181616"/>
                </a:solidFill>
                <a:latin typeface="Calibri"/>
                <a:cs typeface="Calibri"/>
              </a:rPr>
              <a:t>DECISION</a:t>
            </a:r>
            <a:r>
              <a:rPr sz="2050" b="1" spc="-45" dirty="0">
                <a:solidFill>
                  <a:srgbClr val="181616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81616"/>
                </a:solidFill>
                <a:latin typeface="Calibri"/>
                <a:cs typeface="Calibri"/>
              </a:rPr>
              <a:t>SUPPORT=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It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helps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1F3864"/>
                </a:solidFill>
                <a:latin typeface="Calibri"/>
                <a:cs typeface="Calibri"/>
              </a:rPr>
              <a:t>visualize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the problem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which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make</a:t>
            </a:r>
            <a:r>
              <a:rPr sz="2050" b="1" spc="-6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it</a:t>
            </a:r>
            <a:r>
              <a:rPr sz="2050" b="1" spc="-8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easier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to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conflicts</a:t>
            </a:r>
            <a:r>
              <a:rPr sz="2050" b="1" spc="-6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of </a:t>
            </a:r>
            <a:r>
              <a:rPr sz="2050" b="1" spc="-40" dirty="0">
                <a:solidFill>
                  <a:srgbClr val="1F3864"/>
                </a:solidFill>
                <a:latin typeface="Calibri"/>
                <a:cs typeface="Calibri"/>
              </a:rPr>
              <a:t>interest.it</a:t>
            </a:r>
            <a:r>
              <a:rPr sz="2050" b="1" spc="-7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can</a:t>
            </a:r>
            <a:r>
              <a:rPr sz="2050" b="1" spc="-5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be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used</a:t>
            </a:r>
            <a:r>
              <a:rPr sz="2050" b="1" spc="-5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as</a:t>
            </a:r>
            <a:r>
              <a:rPr sz="2050" b="1" spc="-45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1F3864"/>
                </a:solidFill>
                <a:latin typeface="Calibri"/>
                <a:cs typeface="Calibri"/>
              </a:rPr>
              <a:t>an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input</a:t>
            </a:r>
            <a:r>
              <a:rPr sz="2050" b="1" spc="-7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structure</a:t>
            </a:r>
            <a:r>
              <a:rPr sz="2050" b="1" spc="-8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1F3864"/>
                </a:solidFill>
                <a:latin typeface="Calibri"/>
                <a:cs typeface="Calibri"/>
              </a:rPr>
              <a:t>for </a:t>
            </a:r>
            <a:r>
              <a:rPr sz="2050" b="1" spc="-20" dirty="0">
                <a:solidFill>
                  <a:srgbClr val="1F3864"/>
                </a:solidFill>
                <a:latin typeface="Calibri"/>
                <a:cs typeface="Calibri"/>
              </a:rPr>
              <a:t>AI</a:t>
            </a:r>
            <a:r>
              <a:rPr sz="2050" b="1" spc="-90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1F3864"/>
                </a:solidFill>
                <a:latin typeface="Calibri"/>
                <a:cs typeface="Calibri"/>
              </a:rPr>
              <a:t>reasoning.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656590" indent="-429259">
              <a:lnSpc>
                <a:spcPct val="100000"/>
              </a:lnSpc>
              <a:spcBef>
                <a:spcPts val="2495"/>
              </a:spcBef>
              <a:buFont typeface="Symbol"/>
              <a:buChar char=""/>
              <a:tabLst>
                <a:tab pos="656590" algn="l"/>
              </a:tabLst>
            </a:pPr>
            <a:r>
              <a:rPr spc="-50" dirty="0"/>
              <a:t>LINK</a:t>
            </a:r>
            <a:r>
              <a:rPr spc="-190" dirty="0"/>
              <a:t> </a:t>
            </a:r>
            <a:r>
              <a:rPr spc="-45" dirty="0"/>
              <a:t>TO</a:t>
            </a:r>
            <a:r>
              <a:rPr spc="-210" dirty="0"/>
              <a:t> </a:t>
            </a:r>
            <a:r>
              <a:rPr spc="-25" dirty="0"/>
              <a:t>UNIT</a:t>
            </a:r>
            <a:r>
              <a:rPr spc="-210" dirty="0"/>
              <a:t> </a:t>
            </a:r>
            <a:r>
              <a:rPr spc="-50" dirty="0"/>
              <a:t>4</a:t>
            </a:r>
          </a:p>
          <a:p>
            <a:pPr marL="226060" marR="249554" indent="-214629">
              <a:lnSpc>
                <a:spcPct val="119000"/>
              </a:lnSpc>
              <a:spcBef>
                <a:spcPts val="635"/>
              </a:spcBef>
              <a:buAutoNum type="arabicPeriod"/>
              <a:tabLst>
                <a:tab pos="227329" algn="l"/>
              </a:tabLst>
            </a:pPr>
            <a:r>
              <a:rPr sz="2050" spc="-50" dirty="0"/>
              <a:t>CLASSIFICATION-</a:t>
            </a:r>
            <a:r>
              <a:rPr sz="2050" u="none" spc="-35" dirty="0">
                <a:solidFill>
                  <a:srgbClr val="1F3864"/>
                </a:solidFill>
              </a:rPr>
              <a:t>Agricultural</a:t>
            </a:r>
            <a:r>
              <a:rPr sz="2050" u="none" spc="-25" dirty="0">
                <a:solidFill>
                  <a:srgbClr val="1F3864"/>
                </a:solidFill>
              </a:rPr>
              <a:t> </a:t>
            </a:r>
            <a:r>
              <a:rPr sz="2050" u="none" spc="-20" dirty="0">
                <a:solidFill>
                  <a:srgbClr val="1F3864"/>
                </a:solidFill>
              </a:rPr>
              <a:t>land </a:t>
            </a:r>
            <a:r>
              <a:rPr sz="2050" u="none" dirty="0">
                <a:solidFill>
                  <a:srgbClr val="1F3864"/>
                </a:solidFill>
              </a:rPr>
              <a:t>vs</a:t>
            </a:r>
            <a:r>
              <a:rPr sz="2050" u="none" spc="-30" dirty="0">
                <a:solidFill>
                  <a:srgbClr val="1F3864"/>
                </a:solidFill>
              </a:rPr>
              <a:t> </a:t>
            </a:r>
            <a:r>
              <a:rPr sz="2050" u="none" spc="-10" dirty="0">
                <a:solidFill>
                  <a:srgbClr val="1F3864"/>
                </a:solidFill>
              </a:rPr>
              <a:t>urban 	</a:t>
            </a:r>
            <a:r>
              <a:rPr sz="2050" u="none" spc="-20" dirty="0">
                <a:solidFill>
                  <a:srgbClr val="1F3864"/>
                </a:solidFill>
              </a:rPr>
              <a:t>land</a:t>
            </a:r>
            <a:r>
              <a:rPr sz="2050" u="none" spc="-80" dirty="0">
                <a:solidFill>
                  <a:srgbClr val="1F3864"/>
                </a:solidFill>
              </a:rPr>
              <a:t> </a:t>
            </a:r>
            <a:r>
              <a:rPr sz="2050" u="none" dirty="0">
                <a:solidFill>
                  <a:srgbClr val="1F3864"/>
                </a:solidFill>
              </a:rPr>
              <a:t>vs</a:t>
            </a:r>
            <a:r>
              <a:rPr sz="2050" u="none" spc="-55" dirty="0">
                <a:solidFill>
                  <a:srgbClr val="1F3864"/>
                </a:solidFill>
              </a:rPr>
              <a:t> </a:t>
            </a:r>
            <a:r>
              <a:rPr sz="2050" u="none" spc="-45" dirty="0">
                <a:solidFill>
                  <a:srgbClr val="1F3864"/>
                </a:solidFill>
              </a:rPr>
              <a:t>forst</a:t>
            </a:r>
            <a:r>
              <a:rPr sz="2050" u="none" spc="-55" dirty="0">
                <a:solidFill>
                  <a:srgbClr val="1F3864"/>
                </a:solidFill>
              </a:rPr>
              <a:t> </a:t>
            </a:r>
            <a:r>
              <a:rPr sz="2050" u="none" spc="-20" dirty="0">
                <a:solidFill>
                  <a:srgbClr val="1F3864"/>
                </a:solidFill>
              </a:rPr>
              <a:t>land.</a:t>
            </a:r>
            <a:endParaRPr sz="2050"/>
          </a:p>
          <a:p>
            <a:pPr marL="226060" marR="5080" indent="-214629">
              <a:lnSpc>
                <a:spcPts val="2930"/>
              </a:lnSpc>
              <a:spcBef>
                <a:spcPts val="165"/>
              </a:spcBef>
              <a:buAutoNum type="arabicPeriod"/>
              <a:tabLst>
                <a:tab pos="227329" algn="l"/>
              </a:tabLst>
            </a:pPr>
            <a:r>
              <a:rPr sz="2050" spc="-45" dirty="0"/>
              <a:t>REGRESSION-</a:t>
            </a:r>
            <a:r>
              <a:rPr sz="2050" u="none" dirty="0">
                <a:solidFill>
                  <a:srgbClr val="1F3864"/>
                </a:solidFill>
              </a:rPr>
              <a:t>It</a:t>
            </a:r>
            <a:r>
              <a:rPr sz="2050" u="none" spc="-55" dirty="0">
                <a:solidFill>
                  <a:srgbClr val="1F3864"/>
                </a:solidFill>
              </a:rPr>
              <a:t> </a:t>
            </a:r>
            <a:r>
              <a:rPr sz="2050" u="none" dirty="0">
                <a:solidFill>
                  <a:srgbClr val="1F3864"/>
                </a:solidFill>
              </a:rPr>
              <a:t>can</a:t>
            </a:r>
            <a:r>
              <a:rPr sz="2050" u="none" spc="-50" dirty="0">
                <a:solidFill>
                  <a:srgbClr val="1F3864"/>
                </a:solidFill>
              </a:rPr>
              <a:t> </a:t>
            </a:r>
            <a:r>
              <a:rPr sz="2050" u="none" spc="-20" dirty="0">
                <a:solidFill>
                  <a:srgbClr val="1F3864"/>
                </a:solidFill>
              </a:rPr>
              <a:t>predicts</a:t>
            </a:r>
            <a:r>
              <a:rPr sz="2050" u="none" spc="-50" dirty="0">
                <a:solidFill>
                  <a:srgbClr val="1F3864"/>
                </a:solidFill>
              </a:rPr>
              <a:t> </a:t>
            </a:r>
            <a:r>
              <a:rPr sz="2050" u="none" dirty="0">
                <a:solidFill>
                  <a:srgbClr val="1F3864"/>
                </a:solidFill>
              </a:rPr>
              <a:t>the</a:t>
            </a:r>
            <a:r>
              <a:rPr sz="2050" u="none" spc="-40" dirty="0">
                <a:solidFill>
                  <a:srgbClr val="1F3864"/>
                </a:solidFill>
              </a:rPr>
              <a:t> </a:t>
            </a:r>
            <a:r>
              <a:rPr sz="2050" u="none" spc="-35" dirty="0">
                <a:solidFill>
                  <a:srgbClr val="1F3864"/>
                </a:solidFill>
              </a:rPr>
              <a:t>possibility </a:t>
            </a:r>
            <a:r>
              <a:rPr sz="2050" u="none" spc="-25" dirty="0">
                <a:solidFill>
                  <a:srgbClr val="1F3864"/>
                </a:solidFill>
              </a:rPr>
              <a:t>of 	</a:t>
            </a:r>
            <a:r>
              <a:rPr sz="2050" u="none" spc="-20" dirty="0">
                <a:solidFill>
                  <a:srgbClr val="1F3864"/>
                </a:solidFill>
              </a:rPr>
              <a:t>land</a:t>
            </a:r>
            <a:r>
              <a:rPr sz="2050" u="none" spc="-85" dirty="0">
                <a:solidFill>
                  <a:srgbClr val="1F3864"/>
                </a:solidFill>
              </a:rPr>
              <a:t> </a:t>
            </a:r>
            <a:r>
              <a:rPr sz="2050" u="none" dirty="0">
                <a:solidFill>
                  <a:srgbClr val="1F3864"/>
                </a:solidFill>
              </a:rPr>
              <a:t>use</a:t>
            </a:r>
            <a:r>
              <a:rPr sz="2050" u="none" spc="-60" dirty="0">
                <a:solidFill>
                  <a:srgbClr val="1F3864"/>
                </a:solidFill>
              </a:rPr>
              <a:t> </a:t>
            </a:r>
            <a:r>
              <a:rPr sz="2050" u="none" spc="-25" dirty="0">
                <a:solidFill>
                  <a:srgbClr val="1F3864"/>
                </a:solidFill>
              </a:rPr>
              <a:t>over</a:t>
            </a:r>
            <a:r>
              <a:rPr sz="2050" u="none" spc="-75" dirty="0">
                <a:solidFill>
                  <a:srgbClr val="1F3864"/>
                </a:solidFill>
              </a:rPr>
              <a:t> </a:t>
            </a:r>
            <a:r>
              <a:rPr sz="2050" u="none" dirty="0">
                <a:solidFill>
                  <a:srgbClr val="1F3864"/>
                </a:solidFill>
              </a:rPr>
              <a:t>the</a:t>
            </a:r>
            <a:r>
              <a:rPr sz="2050" u="none" spc="-75" dirty="0">
                <a:solidFill>
                  <a:srgbClr val="1F3864"/>
                </a:solidFill>
              </a:rPr>
              <a:t> </a:t>
            </a:r>
            <a:r>
              <a:rPr sz="2050" u="none" spc="-10" dirty="0">
                <a:solidFill>
                  <a:srgbClr val="1F3864"/>
                </a:solidFill>
              </a:rPr>
              <a:t>years.</a:t>
            </a:r>
            <a:endParaRPr sz="2050"/>
          </a:p>
          <a:p>
            <a:pPr marL="226695" indent="-214629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26695" algn="l"/>
              </a:tabLst>
            </a:pPr>
            <a:r>
              <a:rPr sz="2050" spc="-114" dirty="0"/>
              <a:t>DATA-</a:t>
            </a:r>
            <a:r>
              <a:rPr sz="2050" spc="-5" dirty="0"/>
              <a:t> </a:t>
            </a:r>
            <a:r>
              <a:rPr sz="2050" u="none" dirty="0">
                <a:solidFill>
                  <a:srgbClr val="1F3864"/>
                </a:solidFill>
              </a:rPr>
              <a:t>Land</a:t>
            </a:r>
            <a:r>
              <a:rPr sz="2050" u="none" spc="-100" dirty="0">
                <a:solidFill>
                  <a:srgbClr val="1F3864"/>
                </a:solidFill>
              </a:rPr>
              <a:t> </a:t>
            </a:r>
            <a:r>
              <a:rPr sz="2050" u="none" spc="-20" dirty="0">
                <a:solidFill>
                  <a:srgbClr val="1F3864"/>
                </a:solidFill>
              </a:rPr>
              <a:t>records</a:t>
            </a:r>
            <a:r>
              <a:rPr sz="2050" u="none" spc="-55" dirty="0">
                <a:solidFill>
                  <a:srgbClr val="1F3864"/>
                </a:solidFill>
              </a:rPr>
              <a:t> </a:t>
            </a:r>
            <a:r>
              <a:rPr sz="2050" u="none" spc="-30" dirty="0">
                <a:solidFill>
                  <a:srgbClr val="1F3864"/>
                </a:solidFill>
              </a:rPr>
              <a:t>and</a:t>
            </a:r>
            <a:r>
              <a:rPr sz="2050" u="sng" spc="-100" dirty="0">
                <a:solidFill>
                  <a:srgbClr val="1F3864"/>
                </a:solidFill>
                <a:uFill>
                  <a:solidFill>
                    <a:srgbClr val="1F3864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50" u="none" spc="-20" dirty="0">
                <a:solidFill>
                  <a:srgbClr val="1F3864"/>
                </a:solidFill>
              </a:rPr>
              <a:t>maps</a:t>
            </a:r>
            <a:endParaRPr sz="2050">
              <a:latin typeface="Times New Roman"/>
              <a:cs typeface="Times New Roman"/>
            </a:endParaRPr>
          </a:p>
          <a:p>
            <a:pPr marL="226060" marR="553085" indent="-214629">
              <a:lnSpc>
                <a:spcPct val="118800"/>
              </a:lnSpc>
              <a:spcBef>
                <a:spcPts val="20"/>
              </a:spcBef>
              <a:buAutoNum type="arabicPeriod"/>
              <a:tabLst>
                <a:tab pos="227329" algn="l"/>
              </a:tabLst>
            </a:pPr>
            <a:r>
              <a:rPr sz="2050" spc="-35" dirty="0"/>
              <a:t>SUPERVISED</a:t>
            </a:r>
            <a:r>
              <a:rPr sz="2050" spc="-15" dirty="0"/>
              <a:t> </a:t>
            </a:r>
            <a:r>
              <a:rPr sz="2050" spc="-40" dirty="0"/>
              <a:t>LEARNING-</a:t>
            </a:r>
            <a:r>
              <a:rPr sz="2050" u="none" spc="-25" dirty="0">
                <a:solidFill>
                  <a:srgbClr val="1F3864"/>
                </a:solidFill>
              </a:rPr>
              <a:t>Supervising</a:t>
            </a:r>
            <a:r>
              <a:rPr sz="2050" u="none" spc="-45" dirty="0">
                <a:solidFill>
                  <a:srgbClr val="1F3864"/>
                </a:solidFill>
              </a:rPr>
              <a:t> </a:t>
            </a:r>
            <a:r>
              <a:rPr sz="2050" u="none" spc="-25" dirty="0">
                <a:solidFill>
                  <a:srgbClr val="1F3864"/>
                </a:solidFill>
              </a:rPr>
              <a:t>the 	</a:t>
            </a:r>
            <a:r>
              <a:rPr sz="2050" u="none" spc="-30" dirty="0">
                <a:solidFill>
                  <a:srgbClr val="1F3864"/>
                </a:solidFill>
              </a:rPr>
              <a:t>previous</a:t>
            </a:r>
            <a:r>
              <a:rPr sz="2050" u="none" spc="-70" dirty="0">
                <a:solidFill>
                  <a:srgbClr val="1F3864"/>
                </a:solidFill>
              </a:rPr>
              <a:t> </a:t>
            </a:r>
            <a:r>
              <a:rPr sz="2050" u="none" spc="-30" dirty="0">
                <a:solidFill>
                  <a:srgbClr val="1F3864"/>
                </a:solidFill>
              </a:rPr>
              <a:t>data</a:t>
            </a:r>
            <a:r>
              <a:rPr sz="2050" u="none" spc="-45" dirty="0">
                <a:solidFill>
                  <a:srgbClr val="1F3864"/>
                </a:solidFill>
              </a:rPr>
              <a:t> </a:t>
            </a:r>
            <a:r>
              <a:rPr sz="2050" u="none" spc="-25" dirty="0">
                <a:solidFill>
                  <a:srgbClr val="1F3864"/>
                </a:solidFill>
              </a:rPr>
              <a:t>which</a:t>
            </a:r>
            <a:r>
              <a:rPr sz="2050" u="none" spc="-70" dirty="0">
                <a:solidFill>
                  <a:srgbClr val="1F3864"/>
                </a:solidFill>
              </a:rPr>
              <a:t> </a:t>
            </a:r>
            <a:r>
              <a:rPr sz="2050" u="none" dirty="0">
                <a:solidFill>
                  <a:srgbClr val="1F3864"/>
                </a:solidFill>
              </a:rPr>
              <a:t>is</a:t>
            </a:r>
            <a:r>
              <a:rPr sz="2050" u="none" spc="-60" dirty="0">
                <a:solidFill>
                  <a:srgbClr val="1F3864"/>
                </a:solidFill>
              </a:rPr>
              <a:t> </a:t>
            </a:r>
            <a:r>
              <a:rPr sz="2050" u="none" spc="-45" dirty="0">
                <a:solidFill>
                  <a:srgbClr val="1F3864"/>
                </a:solidFill>
              </a:rPr>
              <a:t>available</a:t>
            </a:r>
            <a:r>
              <a:rPr sz="2050" u="none" spc="-70" dirty="0">
                <a:solidFill>
                  <a:srgbClr val="1F3864"/>
                </a:solidFill>
              </a:rPr>
              <a:t> </a:t>
            </a:r>
            <a:r>
              <a:rPr sz="2050" u="none" spc="-20" dirty="0">
                <a:solidFill>
                  <a:srgbClr val="1F3864"/>
                </a:solidFill>
              </a:rPr>
              <a:t>like 	</a:t>
            </a:r>
            <a:r>
              <a:rPr sz="2050" u="none" spc="-25" dirty="0">
                <a:solidFill>
                  <a:srgbClr val="1F3864"/>
                </a:solidFill>
              </a:rPr>
              <a:t>maps,images</a:t>
            </a:r>
            <a:r>
              <a:rPr sz="2050" u="none" spc="-60" dirty="0">
                <a:solidFill>
                  <a:srgbClr val="1F3864"/>
                </a:solidFill>
              </a:rPr>
              <a:t> </a:t>
            </a:r>
            <a:r>
              <a:rPr sz="2050" u="none" spc="-20" dirty="0">
                <a:solidFill>
                  <a:srgbClr val="1F3864"/>
                </a:solidFill>
              </a:rPr>
              <a:t>etc.</a:t>
            </a:r>
            <a:endParaRPr sz="2050"/>
          </a:p>
          <a:p>
            <a:pPr marL="226060" marR="279400" indent="-214629">
              <a:lnSpc>
                <a:spcPts val="2930"/>
              </a:lnSpc>
              <a:spcBef>
                <a:spcPts val="160"/>
              </a:spcBef>
              <a:buAutoNum type="arabicPeriod"/>
              <a:tabLst>
                <a:tab pos="227329" algn="l"/>
              </a:tabLst>
            </a:pPr>
            <a:r>
              <a:rPr sz="2050" spc="-40" dirty="0"/>
              <a:t>UNSUPERVISED</a:t>
            </a:r>
            <a:r>
              <a:rPr sz="2050" dirty="0"/>
              <a:t> </a:t>
            </a:r>
            <a:r>
              <a:rPr sz="2050" spc="-40" dirty="0"/>
              <a:t>LEARNING-</a:t>
            </a:r>
            <a:r>
              <a:rPr sz="2050" u="none" spc="-25" dirty="0">
                <a:solidFill>
                  <a:srgbClr val="1F3864"/>
                </a:solidFill>
              </a:rPr>
              <a:t>Gathering</a:t>
            </a:r>
            <a:r>
              <a:rPr sz="2050" u="none" spc="5" dirty="0">
                <a:solidFill>
                  <a:srgbClr val="1F3864"/>
                </a:solidFill>
              </a:rPr>
              <a:t> </a:t>
            </a:r>
            <a:r>
              <a:rPr sz="2050" u="none" spc="-20" dirty="0">
                <a:solidFill>
                  <a:srgbClr val="1F3864"/>
                </a:solidFill>
              </a:rPr>
              <a:t>land 	areas</a:t>
            </a:r>
            <a:r>
              <a:rPr sz="2050" u="none" spc="-70" dirty="0">
                <a:solidFill>
                  <a:srgbClr val="1F3864"/>
                </a:solidFill>
              </a:rPr>
              <a:t> </a:t>
            </a:r>
            <a:r>
              <a:rPr sz="2050" u="none" spc="-25" dirty="0">
                <a:solidFill>
                  <a:srgbClr val="1F3864"/>
                </a:solidFill>
              </a:rPr>
              <a:t>where</a:t>
            </a:r>
            <a:r>
              <a:rPr sz="2050" u="none" spc="-80" dirty="0">
                <a:solidFill>
                  <a:srgbClr val="1F3864"/>
                </a:solidFill>
              </a:rPr>
              <a:t> </a:t>
            </a:r>
            <a:r>
              <a:rPr sz="2050" u="none" spc="-25" dirty="0">
                <a:solidFill>
                  <a:srgbClr val="1F3864"/>
                </a:solidFill>
              </a:rPr>
              <a:t>conflicts</a:t>
            </a:r>
            <a:r>
              <a:rPr sz="2050" u="none" spc="-65" dirty="0">
                <a:solidFill>
                  <a:srgbClr val="1F3864"/>
                </a:solidFill>
              </a:rPr>
              <a:t> </a:t>
            </a:r>
            <a:r>
              <a:rPr sz="2050" u="none" spc="-10" dirty="0">
                <a:solidFill>
                  <a:srgbClr val="1F3864"/>
                </a:solidFill>
              </a:rPr>
              <a:t>are</a:t>
            </a:r>
            <a:r>
              <a:rPr sz="2050" u="none" spc="-80" dirty="0">
                <a:solidFill>
                  <a:srgbClr val="1F3864"/>
                </a:solidFill>
              </a:rPr>
              <a:t> </a:t>
            </a:r>
            <a:r>
              <a:rPr sz="2050" u="none" spc="-50" dirty="0">
                <a:solidFill>
                  <a:srgbClr val="1F3864"/>
                </a:solidFill>
              </a:rPr>
              <a:t>likely</a:t>
            </a:r>
            <a:r>
              <a:rPr sz="2050" u="none" spc="-55" dirty="0">
                <a:solidFill>
                  <a:srgbClr val="1F3864"/>
                </a:solidFill>
              </a:rPr>
              <a:t> </a:t>
            </a:r>
            <a:r>
              <a:rPr sz="2050" u="none" dirty="0">
                <a:solidFill>
                  <a:srgbClr val="1F3864"/>
                </a:solidFill>
              </a:rPr>
              <a:t>to</a:t>
            </a:r>
            <a:r>
              <a:rPr sz="2050" u="none" spc="-75" dirty="0">
                <a:solidFill>
                  <a:srgbClr val="1F3864"/>
                </a:solidFill>
              </a:rPr>
              <a:t> </a:t>
            </a:r>
            <a:r>
              <a:rPr sz="2050" u="none" spc="-10" dirty="0">
                <a:solidFill>
                  <a:srgbClr val="1F3864"/>
                </a:solidFill>
              </a:rPr>
              <a:t>happen.</a:t>
            </a:r>
            <a:endParaRPr sz="2050"/>
          </a:p>
          <a:p>
            <a:pPr marL="226695" indent="-214629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226695" algn="l"/>
              </a:tabLst>
            </a:pPr>
            <a:r>
              <a:rPr sz="2050" spc="-25" dirty="0"/>
              <a:t>MACHINE</a:t>
            </a:r>
            <a:r>
              <a:rPr sz="2050" spc="-70" dirty="0"/>
              <a:t> </a:t>
            </a:r>
            <a:r>
              <a:rPr sz="2050" spc="-30" dirty="0"/>
              <a:t>LEARNING</a:t>
            </a:r>
            <a:r>
              <a:rPr sz="2050" spc="-50" dirty="0"/>
              <a:t> </a:t>
            </a:r>
            <a:r>
              <a:rPr sz="2050" spc="-10" dirty="0"/>
              <a:t>PIPELINE-</a:t>
            </a:r>
            <a:endParaRPr sz="2050"/>
          </a:p>
          <a:p>
            <a:pPr marL="596900">
              <a:lnSpc>
                <a:spcPct val="100000"/>
              </a:lnSpc>
              <a:spcBef>
                <a:spcPts val="455"/>
              </a:spcBef>
              <a:tabLst>
                <a:tab pos="2374900" algn="l"/>
              </a:tabLst>
            </a:pPr>
            <a:r>
              <a:rPr sz="2050" u="none" dirty="0"/>
              <a:t>-</a:t>
            </a:r>
            <a:r>
              <a:rPr sz="2050" u="none" spc="-40" dirty="0">
                <a:solidFill>
                  <a:srgbClr val="1F3864"/>
                </a:solidFill>
              </a:rPr>
              <a:t>Data</a:t>
            </a:r>
            <a:r>
              <a:rPr sz="2050" u="none" spc="-50" dirty="0">
                <a:solidFill>
                  <a:srgbClr val="1F3864"/>
                </a:solidFill>
              </a:rPr>
              <a:t> </a:t>
            </a:r>
            <a:r>
              <a:rPr sz="2050" u="none" spc="-10" dirty="0">
                <a:solidFill>
                  <a:srgbClr val="1F3864"/>
                </a:solidFill>
              </a:rPr>
              <a:t>collection</a:t>
            </a:r>
            <a:r>
              <a:rPr sz="2050" u="none" dirty="0">
                <a:solidFill>
                  <a:srgbClr val="1F3864"/>
                </a:solidFill>
              </a:rPr>
              <a:t>	-</a:t>
            </a:r>
            <a:r>
              <a:rPr sz="2050" u="none" spc="-20" dirty="0">
                <a:solidFill>
                  <a:srgbClr val="1F3864"/>
                </a:solidFill>
              </a:rPr>
              <a:t>Model</a:t>
            </a:r>
            <a:r>
              <a:rPr sz="2050" u="none" spc="-50" dirty="0">
                <a:solidFill>
                  <a:srgbClr val="1F3864"/>
                </a:solidFill>
              </a:rPr>
              <a:t> </a:t>
            </a:r>
            <a:r>
              <a:rPr sz="2050" u="none" spc="-10" dirty="0">
                <a:solidFill>
                  <a:srgbClr val="1F3864"/>
                </a:solidFill>
              </a:rPr>
              <a:t>training</a:t>
            </a:r>
            <a:endParaRPr sz="2050"/>
          </a:p>
          <a:p>
            <a:pPr marL="657225">
              <a:lnSpc>
                <a:spcPct val="100000"/>
              </a:lnSpc>
              <a:spcBef>
                <a:spcPts val="470"/>
              </a:spcBef>
            </a:pPr>
            <a:r>
              <a:rPr sz="2050" u="none" dirty="0">
                <a:solidFill>
                  <a:srgbClr val="1F3864"/>
                </a:solidFill>
              </a:rPr>
              <a:t>-</a:t>
            </a:r>
            <a:r>
              <a:rPr sz="2050" u="none" spc="-55" dirty="0">
                <a:solidFill>
                  <a:srgbClr val="1F3864"/>
                </a:solidFill>
              </a:rPr>
              <a:t>Evaluation-</a:t>
            </a:r>
            <a:r>
              <a:rPr sz="2050" u="none" spc="-30" dirty="0">
                <a:solidFill>
                  <a:srgbClr val="1F3864"/>
                </a:solidFill>
              </a:rPr>
              <a:t>Accuracy</a:t>
            </a:r>
            <a:r>
              <a:rPr sz="2050" u="none" spc="-50" dirty="0">
                <a:solidFill>
                  <a:srgbClr val="1F3864"/>
                </a:solidFill>
              </a:rPr>
              <a:t> </a:t>
            </a:r>
            <a:r>
              <a:rPr sz="2050" u="none" dirty="0">
                <a:solidFill>
                  <a:srgbClr val="1F3864"/>
                </a:solidFill>
              </a:rPr>
              <a:t>and</a:t>
            </a:r>
            <a:r>
              <a:rPr sz="2050" u="none" spc="-40" dirty="0">
                <a:solidFill>
                  <a:srgbClr val="1F3864"/>
                </a:solidFill>
              </a:rPr>
              <a:t> </a:t>
            </a:r>
            <a:r>
              <a:rPr sz="2050" u="none" spc="-10" dirty="0">
                <a:solidFill>
                  <a:srgbClr val="1F3864"/>
                </a:solidFill>
              </a:rPr>
              <a:t>error </a:t>
            </a:r>
            <a:r>
              <a:rPr sz="2050" u="none" spc="-20" dirty="0">
                <a:solidFill>
                  <a:srgbClr val="1F3864"/>
                </a:solidFill>
              </a:rPr>
              <a:t>rate</a:t>
            </a:r>
            <a:endParaRPr sz="2050"/>
          </a:p>
          <a:p>
            <a:pPr marL="657225">
              <a:lnSpc>
                <a:spcPct val="100000"/>
              </a:lnSpc>
              <a:spcBef>
                <a:spcPts val="455"/>
              </a:spcBef>
            </a:pPr>
            <a:r>
              <a:rPr sz="2050" u="none" dirty="0">
                <a:solidFill>
                  <a:srgbClr val="1F3864"/>
                </a:solidFill>
              </a:rPr>
              <a:t>-</a:t>
            </a:r>
            <a:r>
              <a:rPr sz="2050" u="none" spc="-30" dirty="0">
                <a:solidFill>
                  <a:srgbClr val="1F3864"/>
                </a:solidFill>
              </a:rPr>
              <a:t>Prediction</a:t>
            </a:r>
            <a:r>
              <a:rPr sz="2050" u="none" spc="-80" dirty="0">
                <a:solidFill>
                  <a:srgbClr val="1F3864"/>
                </a:solidFill>
              </a:rPr>
              <a:t> </a:t>
            </a:r>
            <a:r>
              <a:rPr sz="2050" u="none" dirty="0">
                <a:solidFill>
                  <a:srgbClr val="1F3864"/>
                </a:solidFill>
              </a:rPr>
              <a:t>and</a:t>
            </a:r>
            <a:r>
              <a:rPr sz="2050" u="none" spc="-75" dirty="0">
                <a:solidFill>
                  <a:srgbClr val="1F3864"/>
                </a:solidFill>
              </a:rPr>
              <a:t> </a:t>
            </a:r>
            <a:r>
              <a:rPr sz="2050" u="none" spc="-10" dirty="0">
                <a:solidFill>
                  <a:srgbClr val="1F3864"/>
                </a:solidFill>
              </a:rPr>
              <a:t>outputs</a:t>
            </a:r>
            <a:endParaRPr sz="2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521</Words>
  <Application>Microsoft Office PowerPoint</Application>
  <PresentationFormat>Custom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Symbol</vt:lpstr>
      <vt:lpstr>Times New Roman</vt:lpstr>
      <vt:lpstr>Wingdings</vt:lpstr>
      <vt:lpstr>Office Theme</vt:lpstr>
      <vt:lpstr>LAND USE CONFLICTS:</vt:lpstr>
      <vt:lpstr>EVALUATION-2</vt:lpstr>
      <vt:lpstr>PowerPoint Presentation</vt:lpstr>
      <vt:lpstr>PowerPoint Presentation</vt:lpstr>
      <vt:lpstr>-DECISION SUPPORT=It helps visualize the problem which make it easier to conflicts of interest.it can be used as an input structure for AI reasoning.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Document5</dc:title>
  <cp:lastModifiedBy>rohit gupta</cp:lastModifiedBy>
  <cp:revision>1</cp:revision>
  <dcterms:created xsi:type="dcterms:W3CDTF">2025-09-28T05:41:14Z</dcterms:created>
  <dcterms:modified xsi:type="dcterms:W3CDTF">2025-09-28T05:45:36Z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LastSaved">
    <vt:filetime>2025-09-28T00:00:00Z</vt:filetime>
  </property>
  <property fmtid="{D5CDD505-2E9C-101B-9397-08002B2CF9AE}" pid="4" name="Producer">
    <vt:lpwstr>3-Heights(TM) PDF Security Shell 4.8.25.2 (http://www.pdf-tools.com)</vt:lpwstr>
  </property>
</Properties>
</file>